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 cost ($M)</c:v>
                </c:pt>
              </c:strCache>
            </c:strRef>
          </c:tx>
          <c:spPr>
            <a:solidFill>
              <a:srgbClr val="9FB3B9"/>
            </a:solidFill>
            <a:effectLst/>
          </c:spPr>
          <c:invertIfNegative val="0"/>
          <c:dLbls>
            <c:numFmt formatCode="&quot;$&quot;0.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2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B3B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B3B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FB3B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FB3B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55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553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Hip/knee replacement</c:v>
                  </c:pt>
                  <c:pt idx="1">
                    <c:v>Bypass surgery</c:v>
                  </c:pt>
                  <c:pt idx="2">
                    <c:v>COPD</c:v>
                  </c:pt>
                  <c:pt idx="3">
                    <c:v>Heart attack</c:v>
                  </c:pt>
                  <c:pt idx="4">
                    <c:v>Pneumonia</c:v>
                  </c:pt>
                  <c:pt idx="5">
                    <c:v>Heart failure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4.9</c:v>
                </c:pt>
                <c:pt idx="1">
                  <c:v>5.2</c:v>
                </c:pt>
                <c:pt idx="2">
                  <c:v>16.3</c:v>
                </c:pt>
                <c:pt idx="3">
                  <c:v>17.2</c:v>
                </c:pt>
                <c:pt idx="4">
                  <c:v>68.8</c:v>
                </c:pt>
                <c:pt idx="5">
                  <c:v>73.8</c:v>
                </c:pt>
              </c:numCache>
            </c:numRef>
          </c:val>
        </c:ser>
        <c:dLbls>
          <c:numFmt formatCode="&quot;$&quot;0.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E2F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Excess cost ($M)</c:v>
                </c:pt>
              </c:strCache>
            </c:strRef>
          </c:tx>
          <c:spPr>
            <a:solidFill>
              <a:srgbClr val="127C8A"/>
            </a:solidFill>
            <a:effectLst/>
          </c:spPr>
          <c:invertIfNegative val="0"/>
          <c:dLbls>
            <c:numFmt formatCode="&quot;$&quot;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FL</c:v>
                  </c:pt>
                  <c:pt idx="1">
                    <c:v>CA</c:v>
                  </c:pt>
                  <c:pt idx="2">
                    <c:v>NY</c:v>
                  </c:pt>
                  <c:pt idx="3">
                    <c:v>MA</c:v>
                  </c:pt>
                  <c:pt idx="4">
                    <c:v>NJ</c:v>
                  </c:pt>
                  <c:pt idx="5">
                    <c:v>IL</c:v>
                  </c:pt>
                  <c:pt idx="6">
                    <c:v>TX</c:v>
                  </c:pt>
                  <c:pt idx="7">
                    <c:v>PA</c:v>
                  </c:pt>
                  <c:pt idx="8">
                    <c:v>OH</c:v>
                  </c:pt>
                  <c:pt idx="9">
                    <c:v>MI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21.6</c:v>
                </c:pt>
                <c:pt idx="1">
                  <c:v>19.4</c:v>
                </c:pt>
                <c:pt idx="2">
                  <c:v>13.2</c:v>
                </c:pt>
                <c:pt idx="3">
                  <c:v>12.4</c:v>
                </c:pt>
                <c:pt idx="4">
                  <c:v>10.8</c:v>
                </c:pt>
                <c:pt idx="5">
                  <c:v>10.7</c:v>
                </c:pt>
                <c:pt idx="6">
                  <c:v>10.3</c:v>
                </c:pt>
                <c:pt idx="7">
                  <c:v>9.7</c:v>
                </c:pt>
                <c:pt idx="8">
                  <c:v>7.3</c:v>
                </c:pt>
                <c:pt idx="9">
                  <c:v>6.6</c:v>
                </c:pt>
              </c:numCache>
            </c:numRef>
          </c:val>
        </c:ser>
        <c:dLbls>
          <c:numFmt formatCode="&quot;$&quot;0.0" sourceLinked="0"/>
          <c:txPr>
            <a:bodyPr/>
            <a:lstStyle/>
            <a:p>
              <a:pPr>
                <a:defRPr b="0" i="0" strike="noStrike" sz="1100" u="none">
                  <a:solidFill>
                    <a:srgbClr val="0E2F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cost</c:v>
                </c:pt>
              </c:strCache>
            </c:strRef>
          </c:tx>
          <c:spPr>
            <a:solidFill>
              <a:srgbClr val="127C8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27C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7C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55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7C8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Top 50</c:v>
                  </c:pt>
                  <c:pt idx="1">
                    <c:v>Top 100</c:v>
                  </c:pt>
                  <c:pt idx="2">
                    <c:v>Top 219</c:v>
                  </c:pt>
                  <c:pt idx="3">
                    <c:v>Top 637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22.3</c:v>
                </c:pt>
                <c:pt idx="1">
                  <c:v>33.2</c:v>
                </c:pt>
                <c:pt idx="2">
                  <c:v>50</c:v>
                </c:pt>
                <c:pt idx="3">
                  <c:v>80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E2F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excess cost ($K)</c:v>
                </c:pt>
              </c:strCache>
            </c:strRef>
          </c:tx>
          <c:spPr>
            <a:solidFill>
              <a:srgbClr val="E0553A"/>
            </a:solidFill>
            <a:effectLst/>
          </c:spPr>
          <c:invertIfNegative val="0"/>
          <c:dLbls>
            <c:numFmt formatCode="&quot;$&quot;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055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98F7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FB3B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7C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27C8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star</c:v>
                  </c:pt>
                  <c:pt idx="1">
                    <c:v>2 stars</c:v>
                  </c:pt>
                  <c:pt idx="2">
                    <c:v>3 stars</c:v>
                  </c:pt>
                  <c:pt idx="3">
                    <c:v>4 stars</c:v>
                  </c:pt>
                  <c:pt idx="4">
                    <c:v>5 stars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107.4</c:v>
                </c:pt>
                <c:pt idx="1">
                  <c:v>97.3</c:v>
                </c:pt>
                <c:pt idx="2">
                  <c:v>71.8</c:v>
                </c:pt>
                <c:pt idx="3">
                  <c:v>50.8</c:v>
                </c:pt>
                <c:pt idx="4">
                  <c:v>43.3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E2F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headline: this is a sizing of avoidable readmission spending, built from public CMS data through an automated Python and SQL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audience remembers one thing: target heart failure and pneumonia at a short list of hospitals. That is where most of the money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Excess readmissions = discharges x (hospital's predicted rate minus expected rate), counted only where the excess readmission ratio is above 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Implication: a program aimed at heart failure and pneumonia discharges addresses more than three quarters of the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 five states: FL, CA, NY, MA, NJ total $77.4M of $186.1M, or 42%.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Estimates reflect scale and ratio together. Large hospitals appear here partly because they treat more patients.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Hospitals with ratings: 169 one-star, 567 two-star, 840 three-star, 758 four-star, 287 five-star. The star rating includes readmissions as one input, so the relationship is partly built in; the value is as a screening signal, not a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50% scenario is the realistic target to discuss: about $93M over three years, or roughly $31M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the method is part of the pitch: the estimate is conservative and repeatable, and the pipeline refreshes it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READMISSION COST TRACKER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Avoidable readmissions cost an estimated $186M, and half of it sits in 219 hospitals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Medicare hospitals lose money to excess readmissions, and what closing the gap is worth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120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Jadon Pollard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DD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Data: CMS, 2,833 hospitals, Jul 2021–Jun 2024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readmissions are concentrated in two conditions and a small set of hospitals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$186M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avoidable readmission cost over the 3-year window (about $62M a year)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0288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12,245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697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Readmissions above what CMS expects, given each hospital's patient mix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74152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8472" y="1920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48472" y="2697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excess cost comes from heart failure and pneumonia alone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11064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Concentrated, not everywhere.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219 hospitals (7.7% of those measured) account for half of the estimated excess cost.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conditions drive the bill.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Heart failure ($73.8M) and pneumonia ($68.8M) far outweigh the other four conditions combined.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ratings predict it.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1-star hospitals average 2.5x the excess cost of 5-star hospitals ($107K vs. $43K each).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 is large.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Closing half the gap would avoid about 6,100 readmissions and $93M in cost.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Hospital Readmissions Reduction Program &amp; Hospital General Information, performance period Jul 2021–Jun 2024. Cost estimates use $15,200 per readmission (AHRQ HCUP).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readmissions matter, and how this was measured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Medicare patient returns within 30 days, the hospital absorbs extra care costs. Under the Hospital Readmissions Reduction Program (HRRP), CMS can also cut up to 3% of a hospital's Medicare base payments.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hospitals and conditions drive readmissions above expected, what does that cost, and where should improvement effort go first?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309360" y="1508760"/>
            <a:ext cx="548640" cy="548640"/>
          </a:xfrm>
          <a:prstGeom prst="ellipse">
            <a:avLst/>
          </a:prstGeom>
          <a:solidFill>
            <a:srgbClr val="127C8A"/>
          </a:solidFill>
          <a:ln w="12700">
            <a:solidFill>
              <a:srgbClr val="127C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093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583680" y="2103120"/>
            <a:ext cx="0" cy="594360"/>
          </a:xfrm>
          <a:prstGeom prst="line">
            <a:avLst/>
          </a:prstGeom>
          <a:noFill/>
          <a:ln w="19050">
            <a:solidFill>
              <a:srgbClr val="C9D6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0" y="14173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pulls 18,330 readmission rows and 5,419 hospital records from the CMS API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2697480"/>
            <a:ext cx="548640" cy="548640"/>
          </a:xfrm>
          <a:prstGeom prst="ellipse">
            <a:avLst/>
          </a:prstGeom>
          <a:solidFill>
            <a:srgbClr val="127C8A"/>
          </a:solidFill>
          <a:ln w="12700">
            <a:solidFill>
              <a:srgbClr val="127C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0" y="3291840"/>
            <a:ext cx="0" cy="594360"/>
          </a:xfrm>
          <a:prstGeom prst="line">
            <a:avLst/>
          </a:prstGeom>
          <a:noFill/>
          <a:ln w="19050">
            <a:solidFill>
              <a:srgbClr val="C9D6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260604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SQL models clean the data and calculate excess readmissions, cost, and rankings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3886200"/>
            <a:ext cx="548640" cy="548640"/>
          </a:xfrm>
          <a:prstGeom prst="ellipse">
            <a:avLst/>
          </a:prstGeom>
          <a:solidFill>
            <a:srgbClr val="127C8A"/>
          </a:solidFill>
          <a:ln w="12700">
            <a:solidFill>
              <a:srgbClr val="127C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0" y="4480560"/>
            <a:ext cx="0" cy="594360"/>
          </a:xfrm>
          <a:prstGeom prst="line">
            <a:avLst/>
          </a:prstGeom>
          <a:noFill/>
          <a:ln w="19050">
            <a:solidFill>
              <a:srgbClr val="C9D6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0" y="37947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checks: duplicates, hospital match rate, totals that reconcile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09360" y="5074920"/>
            <a:ext cx="548640" cy="548640"/>
          </a:xfrm>
          <a:prstGeom prst="ellipse">
            <a:avLst/>
          </a:prstGeom>
          <a:solidFill>
            <a:srgbClr val="127C8A"/>
          </a:solidFill>
          <a:ln w="12700">
            <a:solidFill>
              <a:srgbClr val="127C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49834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and this deck, refreshed monthly on a schedule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Hospital Readmissions Reduction Program &amp; Hospital General Information, performance period Jul 2021–Jun 2024. Cost estimates use $15,200 per readmission (AHRQ HCUP).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failure and pneumonia account for 77% of the excess cost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excess readmission cost by condition, $ millions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73152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64592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BE3DD"/>
          </a:solidFill>
          <a:ln w="12700">
            <a:solidFill>
              <a:srgbClr val="FBE3D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87452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0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$142.6M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heart failure and pneumonia</a:t>
            </a:r>
            <a:endParaRPr lang="en-US" sz="36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conditions have the most discharges, so even small rate gaps add up. About half of hospitals run above expected on each condition; the volume is what makes these two expensive.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Hospital Readmissions Reduction Program &amp; Hospital General Information, performance period Jul 2021–Jun 2024. Cost estimates use $15,200 per readmission (AHRQ HCUP).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states hold 42% of the excess cost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excess cost by state, top 10, $ millions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0" y="1645920"/>
            <a:ext cx="3474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explains part of it, but not all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Florida, California, and New York lead partly because they have the most hospitals.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states punch above their size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Massachusetts (52 hospitals) and New Jersey (61) outrank Texas (244). Their average excess ratios, 1.028 and 1.029, are the two highest in the country.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 ranks 23rd, at $2.5M.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Hospital Readmissions Reduction Program &amp; Hospital General Information, performance period Jul 2021–Jun 2024. Cost estimates use $15,200 per readmission (AHRQ HCUP).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list of hospitals drives most of the cost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total estimated excess cost held by the highest-cost hospitals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1206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6459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estimated excess cost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103120"/>
          <a:ext cx="5577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40080"/>
                <a:gridCol w="137160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condition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excess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AdventHealth Orlando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Bypass surgery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$3.62M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Medical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Heart failure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$1.41M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Baystate Medical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Bypass surgery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Oroville Hospital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Pneumonia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Maimonides Medical Center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Pneumonia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E2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035040" y="484632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of 2,833 hospitals (7.7%) account for half the excess cost. A targeted program reaches most of the money without covering every hospital.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Hospital Readmissions Reduction Program &amp; Hospital General Information, performance period Jul 2021–Jun 2024. Cost estimates use $15,200 per readmission (AHRQ HCUP).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 star ratings flag the hospitals most likely to over-readmit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estimated excess cost per hospital, by CMS overall star rating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69494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840480" cy="1737360"/>
          </a:xfrm>
          <a:prstGeom prst="roundRect">
            <a:avLst>
              <a:gd name="adj" fmla="val 4211"/>
            </a:avLst>
          </a:prstGeom>
          <a:solidFill>
            <a:srgbClr val="F3F7F8"/>
          </a:solidFill>
          <a:ln w="12700">
            <a:solidFill>
              <a:srgbClr val="F3F7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920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5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2.5x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6974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excess cost at a 1-star hospital vs. a 5-star hospital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65760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excess readmission ratio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1-star hospitals: 1.045 (4.5% above expected)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hospitals: 0.964 (3.6% below expected)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are public and already updated by CMS, so they work as a free early-warning screen.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Hospital Readmissions Reduction Program &amp; Hospital General Information, performance period Jul 2021–Jun 2024. Cost estimates use $15,200 per readmission (AHRQ HCUP).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and the value of closing the gap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D8ECEF"/>
          </a:solidFill>
          <a:ln w="12700">
            <a:solidFill>
              <a:srgbClr val="D8EC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3258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heart failure and pneumonia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discharge planning, follow-up visits within 7 days of discharge, and medication review for these two conditions first.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D8ECEF"/>
          </a:solidFill>
          <a:ln w="12700">
            <a:solidFill>
              <a:srgbClr val="D8EC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7889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219 highest-cost hospitals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improvement resources and partnerships to the hospitals holding half of the excess cost.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D8ECEF"/>
          </a:solidFill>
          <a:ln w="12700">
            <a:solidFill>
              <a:srgbClr val="D8EC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7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42519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with star ratings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1- and 2-star ratings to flag at-risk hospitals early, then confirm with the condition-level data.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766560" y="1325880"/>
            <a:ext cx="4892040" cy="4754880"/>
          </a:xfrm>
          <a:prstGeom prst="roundRect">
            <a:avLst>
              <a:gd name="adj" fmla="val 1538"/>
            </a:avLst>
          </a:prstGeom>
          <a:solidFill>
            <a:srgbClr val="0E2F3A"/>
          </a:solidFill>
          <a:ln w="12700">
            <a:solidFill>
              <a:srgbClr val="0E2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86600" y="1554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savings if hospitals close part of their gap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3774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gap closed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3,061 readmissions avoided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2377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$46.5M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3474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gap closed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6,123 readmissions avoided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0" y="34747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2A3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$93.1M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4572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gap closed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12,245 readmissions avoided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09760" y="4572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$186.1M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5486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cover the 3-year CMS performance window. Divide by 3 for an annual figure.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CMS Hospital Readmissions Reduction Program &amp; Hospital General Information, performance period Jul 2021–Jun 2024. Cost estimates use $15,200 per readmission (AHRQ HCUP).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what to keep in mind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73F4C"/>
          </a:solidFill>
          <a:ln w="12700">
            <a:solidFill>
              <a:srgbClr val="173F4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dashboard and the list of 219 hospitals with leadership; confirm priorities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315968" y="13716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73F4C"/>
          </a:solidFill>
          <a:ln w="12700">
            <a:solidFill>
              <a:srgbClr val="173F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90288" y="15727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30–90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heart failure and pneumonia pilots at 10–15 high-cost hospitals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83296" y="13716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173F4C"/>
          </a:solidFill>
          <a:ln w="12700">
            <a:solidFill>
              <a:srgbClr val="173F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57616" y="1572768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F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 through the monthly automated data refresh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0332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is a sizing of avoidable readmission spending, not each hospital's actual HRRP penalty, which CMS calculates separately.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$15,200 cost per readmission comes from 2018 data, so current costs are likely higher and these estimates conservative.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CMS's excess ratio compares each hospital to a national average, so about half of hospitals land above 1.0 on any condition by design.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D5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with too few cases are not measured and are excluded from these totals.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Readmission Cost Tracker</dc:title>
  <dc:subject>PptxGenJS Presentation</dc:subject>
  <dc:creator>Jadon Pollard</dc:creator>
  <cp:lastModifiedBy>Jadon Pollard</cp:lastModifiedBy>
  <cp:revision>1</cp:revision>
  <dcterms:created xsi:type="dcterms:W3CDTF">2026-09-30T00:28:23Z</dcterms:created>
  <dcterms:modified xsi:type="dcterms:W3CDTF">2026-09-30T00:28:23Z</dcterms:modified>
</cp:coreProperties>
</file>